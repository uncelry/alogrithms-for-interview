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56" r:id="rId3"/>
    <p:sldId id="257" r:id="rId4"/>
    <p:sldId id="274" r:id="rId5"/>
    <p:sldId id="258" r:id="rId6"/>
    <p:sldId id="259" r:id="rId7"/>
    <p:sldId id="275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09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BST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Алгоритмы и структуры данных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Search Tree (BST)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Структура данных для эффективного поиска, вставки и удаления.</a:t>
            </a:r>
          </a:p>
          <a:p>
            <a:r>
              <a:t>Занятие: теория + типовые задачи + практика (LeetCode)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Определение BST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Binary Search Tree — </a:t>
            </a:r>
            <a:r>
              <a:rPr dirty="0" err="1"/>
              <a:t>бинарное</a:t>
            </a:r>
            <a:r>
              <a:rPr dirty="0"/>
              <a:t> </a:t>
            </a:r>
            <a:r>
              <a:rPr dirty="0" err="1"/>
              <a:t>дерево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.</a:t>
            </a:r>
          </a:p>
          <a:p>
            <a:r>
              <a:rPr dirty="0" err="1"/>
              <a:t>Свойство</a:t>
            </a:r>
            <a:r>
              <a:rPr dirty="0"/>
              <a:t>:</a:t>
            </a:r>
          </a:p>
          <a:p>
            <a:r>
              <a:rPr dirty="0"/>
              <a:t>•</a:t>
            </a:r>
            <a:r>
              <a:rPr lang="en-US"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элементы</a:t>
            </a:r>
            <a:r>
              <a:rPr dirty="0"/>
              <a:t> </a:t>
            </a:r>
            <a:r>
              <a:rPr dirty="0" err="1"/>
              <a:t>левого</a:t>
            </a:r>
            <a:r>
              <a:rPr dirty="0"/>
              <a:t> </a:t>
            </a:r>
            <a:r>
              <a:rPr dirty="0" err="1"/>
              <a:t>поддерева</a:t>
            </a:r>
            <a:r>
              <a:rPr dirty="0"/>
              <a:t> &lt; </a:t>
            </a:r>
            <a:r>
              <a:rPr dirty="0" err="1"/>
              <a:t>узла</a:t>
            </a:r>
            <a:endParaRPr dirty="0"/>
          </a:p>
          <a:p>
            <a:r>
              <a:rPr dirty="0"/>
              <a:t>•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элементы</a:t>
            </a:r>
            <a:r>
              <a:rPr dirty="0"/>
              <a:t> </a:t>
            </a:r>
            <a:r>
              <a:rPr dirty="0" err="1"/>
              <a:t>правого</a:t>
            </a:r>
            <a:r>
              <a:rPr dirty="0"/>
              <a:t> </a:t>
            </a:r>
            <a:r>
              <a:rPr dirty="0" err="1"/>
              <a:t>поддерева</a:t>
            </a:r>
            <a:r>
              <a:rPr dirty="0"/>
              <a:t> &gt; </a:t>
            </a:r>
            <a:r>
              <a:rPr dirty="0" err="1"/>
              <a:t>узла</a:t>
            </a:r>
            <a:endParaRPr dirty="0"/>
          </a:p>
          <a:p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свойство</a:t>
            </a:r>
            <a:r>
              <a:rPr dirty="0"/>
              <a:t> </a:t>
            </a:r>
            <a:r>
              <a:rPr dirty="0" err="1"/>
              <a:t>выполняется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каждого</a:t>
            </a:r>
            <a:r>
              <a:rPr dirty="0"/>
              <a:t> </a:t>
            </a:r>
            <a:r>
              <a:rPr dirty="0" err="1"/>
              <a:t>узла</a:t>
            </a:r>
            <a:r>
              <a:rPr dirty="0"/>
              <a:t> </a:t>
            </a:r>
            <a:r>
              <a:rPr dirty="0" err="1"/>
              <a:t>дерева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09BE7-1CE4-0430-74B4-4DA0B7685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7EF91-A40A-078D-122E-4A02B2CB3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Определение BST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C0C3307-25E4-2703-C0AE-02CFCA87AD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8506" y="1600200"/>
            <a:ext cx="6666987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951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BST полезно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Позволяет эффективно выполнять:</a:t>
            </a:r>
          </a:p>
          <a:p>
            <a:r>
              <a:t>• поиск элементов</a:t>
            </a:r>
          </a:p>
          <a:p>
            <a:r>
              <a:t>• вставку</a:t>
            </a:r>
          </a:p>
          <a:p>
            <a:r>
              <a:t>• удаление</a:t>
            </a:r>
          </a:p>
          <a:p>
            <a:r>
              <a:t>• поиск минимального/максимального элемента</a:t>
            </a:r>
          </a:p>
          <a:p>
            <a:r>
              <a:t>• поиск k‑го элемента в отсортированном порядке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Сложности операций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Поиск: O(log n) в среднем</a:t>
            </a:r>
          </a:p>
          <a:p>
            <a:r>
              <a:t>Вставка: O(log n) в среднем</a:t>
            </a:r>
          </a:p>
          <a:p>
            <a:r>
              <a:t>Удаление: O(log n) в среднем</a:t>
            </a:r>
          </a:p>
          <a:p>
            <a:endParaRPr/>
          </a:p>
          <a:p>
            <a:r>
              <a:t>Худший случай: O(n), если дерево вырождается в список.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E8C7E-8536-7EE5-5702-91D128E94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BFFEC-DF5D-3EE3-9B2D-5B9EEE6B2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Вырожденное </a:t>
            </a:r>
            <a:r>
              <a:rPr lang="en-US" dirty="0"/>
              <a:t>(skewed) BST</a:t>
            </a:r>
            <a:endParaRPr dirty="0"/>
          </a:p>
        </p:txBody>
      </p:sp>
      <p:pic>
        <p:nvPicPr>
          <p:cNvPr id="4" name="Content Placeholder 3" descr="Picture background">
            <a:extLst>
              <a:ext uri="{FF2B5EF4-FFF2-40B4-BE49-F238E27FC236}">
                <a16:creationId xmlns:a16="http://schemas.microsoft.com/office/drawing/2014/main" id="{C82BB3EC-E614-0848-3888-2D077930DF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9712" y="2543969"/>
            <a:ext cx="6124575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164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Важное свойство BST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Inorder traversal (обход):</a:t>
            </a:r>
          </a:p>
          <a:p>
            <a:r>
              <a:t>Left → Node → Right</a:t>
            </a:r>
          </a:p>
          <a:p>
            <a:endParaRPr/>
          </a:p>
          <a:p>
            <a:r>
              <a:t>Если выполнить такой обход,</a:t>
            </a:r>
          </a:p>
          <a:p>
            <a:r>
              <a:t>мы получим элементы в отсортированном порядке.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Реализация узла в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class </a:t>
            </a:r>
            <a:r>
              <a:rPr dirty="0" err="1"/>
              <a:t>TreeNode</a:t>
            </a:r>
            <a:r>
              <a:rPr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def __</a:t>
            </a:r>
            <a:r>
              <a:rPr dirty="0" err="1"/>
              <a:t>init</a:t>
            </a:r>
            <a:r>
              <a:rPr dirty="0"/>
              <a:t>__(self, </a:t>
            </a:r>
            <a:r>
              <a:rPr dirty="0" err="1"/>
              <a:t>val</a:t>
            </a:r>
            <a:r>
              <a:rPr dirty="0"/>
              <a:t>=0, left=None, right=None):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dirty="0" err="1"/>
              <a:t>self.val</a:t>
            </a:r>
            <a:r>
              <a:rPr dirty="0"/>
              <a:t> = </a:t>
            </a:r>
            <a:r>
              <a:rPr dirty="0" err="1"/>
              <a:t>val</a:t>
            </a:r>
            <a:endParaRPr dirty="0"/>
          </a:p>
          <a:p>
            <a:pPr marL="0" indent="0">
              <a:buNone/>
            </a:pPr>
            <a:r>
              <a:rPr lang="en-US" dirty="0"/>
              <a:t>		</a:t>
            </a:r>
            <a:r>
              <a:rPr dirty="0" err="1"/>
              <a:t>self.left</a:t>
            </a:r>
            <a:r>
              <a:rPr dirty="0"/>
              <a:t> = left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dirty="0" err="1"/>
              <a:t>self.right</a:t>
            </a:r>
            <a:r>
              <a:rPr dirty="0"/>
              <a:t> = right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Поиск в BST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Идея:</a:t>
            </a:r>
          </a:p>
          <a:p>
            <a:r>
              <a:t>• если target &lt; node → идем влево</a:t>
            </a:r>
          </a:p>
          <a:p>
            <a:r>
              <a:t>• если target &gt; node → идем вправо</a:t>
            </a:r>
          </a:p>
          <a:p>
            <a:r>
              <a:t>• если равно → нашли элемент</a:t>
            </a:r>
          </a:p>
          <a:p>
            <a:endParaRPr/>
          </a:p>
          <a:p>
            <a:r>
              <a:t>Сложность: O(h), где h — высота дерева.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Вставка в BST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Новый элемент всегда добавляется в лист.</a:t>
            </a:r>
          </a:p>
          <a:p>
            <a:endParaRPr/>
          </a:p>
          <a:p>
            <a:r>
              <a:t>Алгоритм:</a:t>
            </a:r>
          </a:p>
          <a:p>
            <a:r>
              <a:t>1. сравнить значение с текущим узлом</a:t>
            </a:r>
          </a:p>
          <a:p>
            <a:r>
              <a:t>2. пойти влево или вправо</a:t>
            </a:r>
          </a:p>
          <a:p>
            <a:r>
              <a:t>3. вставить, когда найдено пустое место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Удаление из BST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3 случая удаления:</a:t>
            </a:r>
          </a:p>
          <a:p>
            <a:r>
              <a:t>1. Узел — лист</a:t>
            </a:r>
          </a:p>
          <a:p>
            <a:r>
              <a:t>2. Узел имеет одного ребенка</a:t>
            </a:r>
          </a:p>
          <a:p>
            <a:r>
              <a:t>3. Узел имеет двух детей</a:t>
            </a:r>
          </a:p>
          <a:p>
            <a:endParaRPr/>
          </a:p>
          <a:p>
            <a:r>
              <a:t>В последнем случае используется inorder successor</a:t>
            </a:r>
          </a:p>
          <a:p>
            <a:r>
              <a:t>(минимум правого поддерева).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Типовые задачи на BST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Validate Binary Search Tree</a:t>
            </a:r>
          </a:p>
          <a:p>
            <a:r>
              <a:t>2. Search in a BST</a:t>
            </a:r>
          </a:p>
          <a:p>
            <a:r>
              <a:t>3. Insert into BST</a:t>
            </a:r>
          </a:p>
          <a:p>
            <a:r>
              <a:t>4. Delete Node in BST</a:t>
            </a:r>
          </a:p>
          <a:p>
            <a:r>
              <a:t>5. Kth Smallest Element in BST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Практика на занятии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Задачи:</a:t>
            </a:r>
          </a:p>
          <a:p>
            <a:r>
              <a:t>• Search in a BST</a:t>
            </a:r>
          </a:p>
          <a:p>
            <a:r>
              <a:t>• Validate Binary Search Tree</a:t>
            </a:r>
          </a:p>
          <a:p>
            <a:r>
              <a:t>• Kth Smallest Element in a BST</a:t>
            </a:r>
          </a:p>
          <a:p>
            <a:endParaRPr/>
          </a:p>
          <a:p>
            <a:r>
              <a:t>Цель — научиться использовать свойства BST.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уверенного понимания </a:t>
            </a:r>
            <a:r>
              <a:rPr lang="en-US" dirty="0"/>
              <a:t>BST </a:t>
            </a:r>
            <a:r>
              <a:rPr lang="ru-RU" dirty="0"/>
              <a:t>надо</a:t>
            </a:r>
            <a:r>
              <a:rPr dirty="0"/>
              <a:t>:</a:t>
            </a:r>
          </a:p>
          <a:p>
            <a:r>
              <a:rPr dirty="0"/>
              <a:t>• </a:t>
            </a: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структуру</a:t>
            </a:r>
            <a:r>
              <a:rPr dirty="0"/>
              <a:t> BST</a:t>
            </a:r>
          </a:p>
          <a:p>
            <a:r>
              <a:rPr dirty="0"/>
              <a:t>• </a:t>
            </a:r>
            <a:r>
              <a:rPr dirty="0" err="1"/>
              <a:t>знать</a:t>
            </a:r>
            <a:r>
              <a:rPr dirty="0"/>
              <a:t> </a:t>
            </a: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операции</a:t>
            </a:r>
            <a:endParaRPr dirty="0"/>
          </a:p>
          <a:p>
            <a:r>
              <a:rPr dirty="0"/>
              <a:t>• </a:t>
            </a: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inorder</a:t>
            </a:r>
            <a:r>
              <a:rPr dirty="0"/>
              <a:t> traversal</a:t>
            </a:r>
          </a:p>
          <a:p>
            <a:r>
              <a:rPr dirty="0"/>
              <a:t>• </a:t>
            </a:r>
            <a:r>
              <a:rPr dirty="0" err="1"/>
              <a:t>уметь</a:t>
            </a:r>
            <a:r>
              <a:rPr dirty="0"/>
              <a:t> </a:t>
            </a:r>
            <a:r>
              <a:rPr dirty="0" err="1"/>
              <a:t>решать</a:t>
            </a:r>
            <a:r>
              <a:rPr dirty="0"/>
              <a:t> </a:t>
            </a:r>
            <a:r>
              <a:rPr dirty="0" err="1"/>
              <a:t>типовые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BST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413</Words>
  <Application>Microsoft Office PowerPoint</Application>
  <PresentationFormat>On-screen Show (4:3)</PresentationFormat>
  <Paragraphs>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BST</vt:lpstr>
      <vt:lpstr>Binary Search Tree (BST)</vt:lpstr>
      <vt:lpstr>Определение BST</vt:lpstr>
      <vt:lpstr>Определение BST</vt:lpstr>
      <vt:lpstr>Почему BST полезно</vt:lpstr>
      <vt:lpstr>Сложности операций</vt:lpstr>
      <vt:lpstr>Вырожденное (skewed) BST</vt:lpstr>
      <vt:lpstr>Важное свойство BST</vt:lpstr>
      <vt:lpstr>Реализация узла в Python</vt:lpstr>
      <vt:lpstr>Поиск в BST</vt:lpstr>
      <vt:lpstr>Вставка в BST</vt:lpstr>
      <vt:lpstr>Удаление из BST</vt:lpstr>
      <vt:lpstr>Типовые задачи на BST</vt:lpstr>
      <vt:lpstr>Практика на занятии</vt:lpstr>
      <vt:lpstr>Итог занятия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Денис Серажетдинов</cp:lastModifiedBy>
  <cp:revision>2</cp:revision>
  <dcterms:created xsi:type="dcterms:W3CDTF">2013-01-27T09:14:16Z</dcterms:created>
  <dcterms:modified xsi:type="dcterms:W3CDTF">2026-03-14T07:10:46Z</dcterms:modified>
  <cp:category/>
</cp:coreProperties>
</file>